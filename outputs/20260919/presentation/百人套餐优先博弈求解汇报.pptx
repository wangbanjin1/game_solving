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49d364c8624022" /><Relationship Type="http://schemas.openxmlformats.org/officeDocument/2006/relationships/extended-properties" Target="/docProps/app.xml" Id="R28342eb5aba54ac1" /><Relationship Type="http://schemas.openxmlformats.org/officeDocument/2006/relationships/officeDocument" Target="/ppt/presentation.xml" Id="R80b15988b93e45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999618daa64b29"/>
  </p:sldMasterIdLst>
  <p:notesMasterIdLst>
    <p:notesMasterId xmlns:r="http://schemas.openxmlformats.org/officeDocument/2006/relationships" r:id="Rf1683c286a884907"/>
  </p:notesMasterIdLst>
  <p:sldIdLst>
    <p:sldId xmlns:r="http://schemas.openxmlformats.org/officeDocument/2006/relationships" id="256" r:id="R5f62cfb8de044208"/>
    <p:sldId xmlns:r="http://schemas.openxmlformats.org/officeDocument/2006/relationships" id="257" r:id="Ra82f23587e2c4b11"/>
    <p:sldId xmlns:r="http://schemas.openxmlformats.org/officeDocument/2006/relationships" id="258" r:id="R7353bc14889f4d66"/>
    <p:sldId xmlns:r="http://schemas.openxmlformats.org/officeDocument/2006/relationships" id="259" r:id="R36f303e7c5c1429c"/>
    <p:sldId xmlns:r="http://schemas.openxmlformats.org/officeDocument/2006/relationships" id="260" r:id="Rf4ce75a5ba84488b"/>
    <p:sldId xmlns:r="http://schemas.openxmlformats.org/officeDocument/2006/relationships" id="261" r:id="Re431ddd1ca4a4c87"/>
    <p:sldId xmlns:r="http://schemas.openxmlformats.org/officeDocument/2006/relationships" id="262" r:id="Rebfeb3a94dc241d0"/>
    <p:sldId xmlns:r="http://schemas.openxmlformats.org/officeDocument/2006/relationships" id="263" r:id="R721d51ac2ab346f9"/>
    <p:sldId xmlns:r="http://schemas.openxmlformats.org/officeDocument/2006/relationships" id="264" r:id="R223d77207d5c4e64"/>
    <p:sldId xmlns:r="http://schemas.openxmlformats.org/officeDocument/2006/relationships" id="265" r:id="Rcdbd629eaaf6494f"/>
    <p:sldId xmlns:r="http://schemas.openxmlformats.org/officeDocument/2006/relationships" id="266" r:id="Rc9b6852d6bec49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fef44eef4a4178" /><Relationship Type="http://schemas.openxmlformats.org/officeDocument/2006/relationships/slideMaster" Target="/ppt/slideMasters/slideMaster1.xml" Id="R06999618daa64b29" /><Relationship Type="http://schemas.openxmlformats.org/officeDocument/2006/relationships/notesMaster" Target="/ppt/notesMasters/notesMaster1.xml" Id="Rf1683c286a884907" /><Relationship Type="http://schemas.openxmlformats.org/officeDocument/2006/relationships/presProps" Target="/ppt/presProps.xml" Id="Refb92b189e0648f6" /><Relationship Type="http://schemas.openxmlformats.org/officeDocument/2006/relationships/tableStyles" Target="/ppt/tableStyles.xml" Id="R329e86effba14913" /><Relationship Type="http://schemas.openxmlformats.org/officeDocument/2006/relationships/slide" Target="/ppt/slides/slide1.xml" Id="R5f62cfb8de044208" /><Relationship Type="http://schemas.openxmlformats.org/officeDocument/2006/relationships/slide" Target="/ppt/slides/slide2.xml" Id="Ra82f23587e2c4b11" /><Relationship Type="http://schemas.openxmlformats.org/officeDocument/2006/relationships/slide" Target="/ppt/slides/slide3.xml" Id="R7353bc14889f4d66" /><Relationship Type="http://schemas.openxmlformats.org/officeDocument/2006/relationships/slide" Target="/ppt/slides/slide4.xml" Id="R36f303e7c5c1429c" /><Relationship Type="http://schemas.openxmlformats.org/officeDocument/2006/relationships/slide" Target="/ppt/slides/slide5.xml" Id="Rf4ce75a5ba84488b" /><Relationship Type="http://schemas.openxmlformats.org/officeDocument/2006/relationships/slide" Target="/ppt/slides/slide6.xml" Id="Re431ddd1ca4a4c87" /><Relationship Type="http://schemas.openxmlformats.org/officeDocument/2006/relationships/slide" Target="/ppt/slides/slide7.xml" Id="Rebfeb3a94dc241d0" /><Relationship Type="http://schemas.openxmlformats.org/officeDocument/2006/relationships/slide" Target="/ppt/slides/slide8.xml" Id="R721d51ac2ab346f9" /><Relationship Type="http://schemas.openxmlformats.org/officeDocument/2006/relationships/slide" Target="/ppt/slides/slide9.xml" Id="R223d77207d5c4e64" /><Relationship Type="http://schemas.openxmlformats.org/officeDocument/2006/relationships/slide" Target="/ppt/slides/slide10.xml" Id="Rcdbd629eaaf6494f" /><Relationship Type="http://schemas.openxmlformats.org/officeDocument/2006/relationships/slide" Target="/ppt/slides/slide11.xml" Id="Rc9b6852d6bec49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0141e465d744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6987d684684010" /><Relationship Type="http://schemas.openxmlformats.org/officeDocument/2006/relationships/notesMaster" Target="/ppt/notesMasters/notesMaster1.xml" Id="Rbfa7976874ba45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9603c2a66045be" /><Relationship Type="http://schemas.openxmlformats.org/officeDocument/2006/relationships/notesMaster" Target="/ppt/notesMasters/notesMaster1.xml" Id="R7b837321836a45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080d4a207641e3" /><Relationship Type="http://schemas.openxmlformats.org/officeDocument/2006/relationships/notesMaster" Target="/ppt/notesMasters/notesMaster1.xml" Id="Rd130def1b7304e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e9c3cc59a9434b" /><Relationship Type="http://schemas.openxmlformats.org/officeDocument/2006/relationships/notesMaster" Target="/ppt/notesMasters/notesMaster1.xml" Id="R794a2da590ea4a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50b04294bf4467" /><Relationship Type="http://schemas.openxmlformats.org/officeDocument/2006/relationships/notesMaster" Target="/ppt/notesMasters/notesMaster1.xml" Id="R284cb321327947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64749b12c44ebb" /><Relationship Type="http://schemas.openxmlformats.org/officeDocument/2006/relationships/notesMaster" Target="/ppt/notesMasters/notesMaster1.xml" Id="Rb9d2568a31a449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df52c2052f4301" /><Relationship Type="http://schemas.openxmlformats.org/officeDocument/2006/relationships/notesMaster" Target="/ppt/notesMasters/notesMaster1.xml" Id="R1b234db0368f40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670a09ece340ab" /><Relationship Type="http://schemas.openxmlformats.org/officeDocument/2006/relationships/notesMaster" Target="/ppt/notesMasters/notesMaster1.xml" Id="R356ab84a58574d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3c90dd40ea4f66" /><Relationship Type="http://schemas.openxmlformats.org/officeDocument/2006/relationships/notesMaster" Target="/ppt/notesMasters/notesMaster1.xml" Id="R039669143d334f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dbc4fe6bbe416c" /><Relationship Type="http://schemas.openxmlformats.org/officeDocument/2006/relationships/notesMaster" Target="/ppt/notesMasters/notesMaster1.xml" Id="R9c059bca54a646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8d4f5fbb95444c9" /><Relationship Type="http://schemas.openxmlformats.org/officeDocument/2006/relationships/notesMaster" Target="/ppt/notesMasters/notesMaster1.xml" Id="Reb9a1e9d95ba4b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本汇报基于 outputs/20260919 的可复现实验结果。开场先说明目标：验证套餐最高优先权重下，百人共享上下行资源时的求解行为。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 个基础样本提供人群差异。每组五档共享完全相同的用户状态，因此余量变化具有可比性。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强调覆盖约束与真实比例的区别。当前每个基础样本的业务人数完全一致，用户的套餐、位置、容忍度和 KQI 随种子变化。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业务等级现在只在同一套餐内排序。总目标仍为所有用户效用之和，因此多个普通用户的合计改善仍可能超过一个高级套餐用户。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架构将数据生成与求解分开。输入可以单独复用，报告生成不修改结果。模型指纹防止新公式误读旧输入。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同组对照用于隔离容量余量的影响。跨组对照用于观察不同用户状态下结果是否一致。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个人先按影子价格表达请求，协调器再保证容量合法。最终比较使用未扣影子价格的 H，避免价格被重复计入效用。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0% 余量也能提升 MOS，说明初始分配存在可改善的错配。随着余量增加，平均 MOS 继续上升，但增幅逐渐趋缓。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达标人数随余量增加，但边际提升较小。部分用户在当前固定分辨率和外部 KQI 下个人目标不可达，增加容量也不能解决。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这页用于避免误读。套餐权重严格分层，但算法优化总效用，且超级 VIP 的目标更高，所以结果不能简单比较 MOS 增量大小。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结尾明确证据和边界。所有场景均为 FEASIBLE_DEGRADED，表示硬约束合法但不能全员达到软目标，不等于求解失败。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e96fe9535e40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46181e302c45cc" /><Relationship Type="http://schemas.openxmlformats.org/officeDocument/2006/relationships/slideLayout" Target="/ppt/slideLayouts/slideLayout1.xml" Id="Re3a421a2bc1149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a421a2bc1149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1e88dd21b4e7d" /><Relationship Type="http://schemas.openxmlformats.org/officeDocument/2006/relationships/notesSlide" Target="/ppt/notesSlides/notesSlide1.xml" Id="R6cfb088f48a747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eb7743d09421e" /><Relationship Type="http://schemas.openxmlformats.org/officeDocument/2006/relationships/notesSlide" Target="/ppt/notesSlides/notesSlide2.xml" Id="R7696f8bc44e148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c88d7e20f4a2f" /><Relationship Type="http://schemas.openxmlformats.org/officeDocument/2006/relationships/chart" Target="/ppt/slides/charts/chart1.xml" Id="R7cbaec925d424737" /><Relationship Type="http://schemas.openxmlformats.org/officeDocument/2006/relationships/notesSlide" Target="/ppt/notesSlides/notesSlide3.xml" Id="R69582852bd8d4d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75f88b11947dd" /><Relationship Type="http://schemas.openxmlformats.org/officeDocument/2006/relationships/notesSlide" Target="/ppt/notesSlides/notesSlide4.xml" Id="Re6ee7a56cd8c4c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2af8371784e79" /><Relationship Type="http://schemas.openxmlformats.org/officeDocument/2006/relationships/notesSlide" Target="/ppt/notesSlides/notesSlide5.xml" Id="Rc83c55f6c30e42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709108abf04929" /><Relationship Type="http://schemas.openxmlformats.org/officeDocument/2006/relationships/notesSlide" Target="/ppt/notesSlides/notesSlide6.xml" Id="Rfe89c963b7df48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903b06e8343dc" /><Relationship Type="http://schemas.openxmlformats.org/officeDocument/2006/relationships/notesSlide" Target="/ppt/notesSlides/notesSlide7.xml" Id="R04f45d122f5646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5d951b6dc4fd0" /><Relationship Type="http://schemas.openxmlformats.org/officeDocument/2006/relationships/chart" Target="/ppt/slides/charts/chart2.xml" Id="R113a221c31014c0f" /><Relationship Type="http://schemas.openxmlformats.org/officeDocument/2006/relationships/notesSlide" Target="/ppt/notesSlides/notesSlide8.xml" Id="R077eefecbc8e49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23c702bc344fe" /><Relationship Type="http://schemas.openxmlformats.org/officeDocument/2006/relationships/chart" Target="/ppt/slides/charts/chart3.xml" Id="Re8a8f45ba4ab42b6" /><Relationship Type="http://schemas.openxmlformats.org/officeDocument/2006/relationships/notesSlide" Target="/ppt/notesSlides/notesSlide9.xml" Id="R1abb50001ec848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f5829890c4736" /><Relationship Type="http://schemas.openxmlformats.org/officeDocument/2006/relationships/chart" Target="/ppt/slides/charts/chart4.xml" Id="R60fcda55516e4dad" /><Relationship Type="http://schemas.openxmlformats.org/officeDocument/2006/relationships/notesSlide" Target="/ppt/notesSlides/notesSlide10.xml" Id="Rce28acf87c8842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eca54ae4a46b4" /><Relationship Type="http://schemas.openxmlformats.org/officeDocument/2006/relationships/notesSlide" Target="/ppt/notesSlides/notesSlide11.xml" Id="R169b368216f44db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人数</c:v>
          </c:tx>
          <c:spPr>
            <a:solidFill xmlns:a="http://schemas.openxmlformats.org/drawingml/2006/main">
              <a:srgbClr val="2878B5"/>
            </a:solidFill>
          </c:spPr>
          <c:dPt>
            <c:idx val="7"/>
            <c:invertIfNegative val="0"/>
            <c:spPr>
              <a:solidFill xmlns:a="http://schemas.openxmlformats.org/drawingml/2006/main">
                <a:srgbClr val="D95D5D"/>
              </a:solidFill>
            </c:spPr>
          </c:dPt>
          <c:cat>
            <c:strRef>
              <c:f>'Chart Data'!$A$2:$A$9</c:f>
              <c:strCache>
                <c:ptCount val="8"/>
                <c:pt idx="0">
                  <c:v>短视频</c:v>
                </c:pt>
                <c:pt idx="1">
                  <c:v>长视频</c:v>
                </c:pt>
                <c:pt idx="2">
                  <c:v>会议</c:v>
                </c:pt>
                <c:pt idx="3">
                  <c:v>云游戏</c:v>
                </c:pt>
                <c:pt idx="4">
                  <c:v>语音</c:v>
                </c:pt>
                <c:pt idx="5">
                  <c:v>观看直播</c:v>
                </c:pt>
                <c:pt idx="6">
                  <c:v>游戏</c:v>
                </c:pt>
                <c:pt idx="7">
                  <c:v>开直播</c:v>
                </c:pt>
              </c:strCache>
            </c:str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36</c:v>
                </c:pt>
                <c:pt idx="1">
                  <c:v>27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  <c:pt idx="7">
                  <c:v>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82332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初始</c:v>
          </c:tx>
          <c:spPr>
            <a:ln xmlns:a="http://schemas.openxmlformats.org/drawingml/2006/main" w="28575">
              <a:solidFill>
                <a:srgbClr val="5A6775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5A6775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0%</c:v>
                </c:pt>
                <c:pt idx="1">
                  <c:v>5%</c:v>
                </c:pt>
                <c:pt idx="2">
                  <c:v>10%</c:v>
                </c:pt>
                <c:pt idx="3">
                  <c:v>15%</c:v>
                </c:pt>
                <c:pt idx="4">
                  <c:v>20%</c:v>
                </c:pt>
              </c:strCache>
            </c:str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2.736</c:v>
                </c:pt>
                <c:pt idx="1">
                  <c:v>2.736</c:v>
                </c:pt>
                <c:pt idx="2">
                  <c:v>2.736</c:v>
                </c:pt>
                <c:pt idx="3">
                  <c:v>2.736</c:v>
                </c:pt>
                <c:pt idx="4">
                  <c:v>2.736</c:v>
                </c:pt>
              </c:numCache>
            </c:numRef>
          </c:val>
        </c:ser>
        <c:ser>
          <c:idx val="1"/>
          <c:order val="1"/>
          <c:tx>
            <c:v>求解后</c:v>
          </c:tx>
          <c:spPr>
            <a:ln xmlns:a="http://schemas.openxmlformats.org/drawingml/2006/main" w="38100">
              <a:solidFill>
                <a:srgbClr val="2878B5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2878B5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0%</c:v>
                </c:pt>
                <c:pt idx="1">
                  <c:v>5%</c:v>
                </c:pt>
                <c:pt idx="2">
                  <c:v>10%</c:v>
                </c:pt>
                <c:pt idx="3">
                  <c:v>15%</c:v>
                </c:pt>
                <c:pt idx="4">
                  <c:v>20%</c:v>
                </c:pt>
              </c:strCache>
            </c:strRef>
          </c:cat>
          <c:val>
            <c:numRef>
              <c:f>'Chart Data'!$D$2:$D$6</c:f>
              <c:numCache>
                <c:formatCode>0.00</c:formatCode>
                <c:ptCount val="5"/>
                <c:pt idx="0">
                  <c:v>2.915</c:v>
                </c:pt>
                <c:pt idx="1">
                  <c:v>2.926</c:v>
                </c:pt>
                <c:pt idx="2">
                  <c:v>2.935</c:v>
                </c:pt>
                <c:pt idx="3">
                  <c:v>2.942</c:v>
                </c:pt>
                <c:pt idx="4">
                  <c:v>2.947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3"/>
          <c:min val="2.6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182332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初始</c:v>
          </c:tx>
          <c:spPr>
            <a:solidFill xmlns:a="http://schemas.openxmlformats.org/drawingml/2006/main">
              <a:srgbClr val="A9B4BF"/>
            </a:solidFill>
          </c:spPr>
          <c:cat>
            <c:strRef>
              <c:f>'Chart Data'!$A$2:$A$6</c:f>
              <c:strCache>
                <c:ptCount val="5"/>
                <c:pt idx="0">
                  <c:v>0%</c:v>
                </c:pt>
                <c:pt idx="1">
                  <c:v>5%</c:v>
                </c:pt>
                <c:pt idx="2">
                  <c:v>10%</c:v>
                </c:pt>
                <c:pt idx="3">
                  <c:v>15%</c:v>
                </c:pt>
                <c:pt idx="4">
                  <c:v>20%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25.8</c:v>
                </c:pt>
                <c:pt idx="1">
                  <c:v>25.8</c:v>
                </c:pt>
                <c:pt idx="2">
                  <c:v>25.8</c:v>
                </c:pt>
                <c:pt idx="3">
                  <c:v>25.8</c:v>
                </c:pt>
                <c:pt idx="4">
                  <c:v>25.8</c:v>
                </c:pt>
              </c:numCache>
            </c:numRef>
          </c:val>
        </c:ser>
        <c:ser>
          <c:idx val="1"/>
          <c:order val="1"/>
          <c:tx>
            <c:v>求解后</c:v>
          </c:tx>
          <c:spPr>
            <a:solidFill xmlns:a="http://schemas.openxmlformats.org/drawingml/2006/main">
              <a:srgbClr val="2A9D8F"/>
            </a:solidFill>
          </c:spPr>
          <c:cat>
            <c:strRef>
              <c:f>'Chart Data'!$C$2:$C$6</c:f>
              <c:strCache>
                <c:ptCount val="5"/>
                <c:pt idx="0">
                  <c:v>0%</c:v>
                </c:pt>
                <c:pt idx="1">
                  <c:v>5%</c:v>
                </c:pt>
                <c:pt idx="2">
                  <c:v>10%</c:v>
                </c:pt>
                <c:pt idx="3">
                  <c:v>15%</c:v>
                </c:pt>
                <c:pt idx="4">
                  <c:v>20%</c:v>
                </c:pt>
              </c:strCache>
            </c:strRef>
          </c:cat>
          <c:val>
            <c:numRef>
              <c:f>'Chart Data'!$D$2:$D$6</c:f>
              <c:numCache>
                <c:formatCode>0</c:formatCode>
                <c:ptCount val="5"/>
                <c:pt idx="0">
                  <c:v>39</c:v>
                </c:pt>
                <c:pt idx="1">
                  <c:v>39.8</c:v>
                </c:pt>
                <c:pt idx="2">
                  <c:v>40</c:v>
                </c:pt>
                <c:pt idx="3">
                  <c:v>40.4</c:v>
                </c:pt>
                <c:pt idx="4">
                  <c:v>40.6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82332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182332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初始</c:v>
          </c:tx>
          <c:spPr>
            <a:solidFill xmlns:a="http://schemas.openxmlformats.org/drawingml/2006/main">
              <a:srgbClr val="A9B4BF"/>
            </a:solidFill>
          </c:spPr>
          <c:cat>
            <c:strRef>
              <c:f>'Chart Data'!$A$2:$A$4</c:f>
              <c:strCache>
                <c:ptCount val="3"/>
                <c:pt idx="0">
                  <c:v>普通</c:v>
                </c:pt>
                <c:pt idx="1">
                  <c:v>VIP</c:v>
                </c:pt>
                <c:pt idx="2">
                  <c:v>超级 VIP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2.078</c:v>
                </c:pt>
                <c:pt idx="1">
                  <c:v>3.577</c:v>
                </c:pt>
                <c:pt idx="2">
                  <c:v>3.965</c:v>
                </c:pt>
              </c:numCache>
            </c:numRef>
          </c:val>
        </c:ser>
        <c:ser>
          <c:idx val="1"/>
          <c:order val="1"/>
          <c:tx>
            <c:v>0% 余量</c:v>
          </c:tx>
          <c:spPr>
            <a:solidFill xmlns:a="http://schemas.openxmlformats.org/drawingml/2006/main">
              <a:srgbClr val="2878B5"/>
            </a:solidFill>
          </c:spPr>
          <c:cat>
            <c:strRef>
              <c:f>'Chart Data'!$C$2:$C$4</c:f>
              <c:strCache>
                <c:ptCount val="3"/>
                <c:pt idx="0">
                  <c:v>普通</c:v>
                </c:pt>
                <c:pt idx="1">
                  <c:v>VIP</c:v>
                </c:pt>
                <c:pt idx="2">
                  <c:v>超级 VIP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2.295</c:v>
                </c:pt>
                <c:pt idx="1">
                  <c:v>3.706</c:v>
                </c:pt>
                <c:pt idx="2">
                  <c:v>4.072</c:v>
                </c:pt>
              </c:numCache>
            </c:numRef>
          </c:val>
        </c:ser>
        <c:ser>
          <c:idx val="2"/>
          <c:order val="2"/>
          <c:tx>
            <c:v>20% 余量</c:v>
          </c:tx>
          <c:spPr>
            <a:solidFill xmlns:a="http://schemas.openxmlformats.org/drawingml/2006/main">
              <a:srgbClr val="2A9D8F"/>
            </a:solidFill>
          </c:spPr>
          <c:cat>
            <c:strRef>
              <c:f>'Chart Data'!$E$2:$E$4</c:f>
              <c:strCache>
                <c:ptCount val="3"/>
                <c:pt idx="0">
                  <c:v>普通</c:v>
                </c:pt>
                <c:pt idx="1">
                  <c:v>VIP</c:v>
                </c:pt>
                <c:pt idx="2">
                  <c:v>超级 VIP</c:v>
                </c:pt>
              </c:strCache>
            </c:strRef>
          </c:cat>
          <c:val>
            <c:numRef>
              <c:f>'Chart Data'!$F$2:$F$4</c:f>
              <c:numCache>
                <c:formatCode>0.0</c:formatCode>
                <c:ptCount val="3"/>
                <c:pt idx="0">
                  <c:v>2.335</c:v>
                </c:pt>
                <c:pt idx="1">
                  <c:v>3.733</c:v>
                </c:pt>
                <c:pt idx="2">
                  <c:v>4.086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82332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182332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344A33-3249-42BB-8797-31FDD3E8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57A31D-2304-4306-B6D7-0E8E2C8F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百人套餐优先博弈求解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CBAAB-4CAB-4778-8EB5-5C5262C8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8D6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C8D6E5"/>
                </a:solidFill>
                <a:latin typeface="Microsoft YaHei"/>
                <a:ea typeface="Microsoft YaHei"/>
                <a:cs typeface="Microsoft YaHei"/>
              </a:rPr>
              <a:t>数据模拟、资源协调与求解结果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AC772-31C2-4533-AE46-52A0F1A7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 个基础样本  ×  5 档带宽余量  =  25 个场景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6A59B-D58C-4260-8348-06648322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CB0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0C5"/>
                </a:solidFill>
                <a:latin typeface="Microsoft YaHei"/>
                <a:ea typeface="Microsoft YaHei"/>
                <a:cs typeface="Microsoft YaHei"/>
              </a:rPr>
              <a:t>2026-09-19</a:t>
            </a:r>
          </a:p>
        </p:txBody>
      </p:sp>
    </p:spTree>
    <p:extLst>
      <p:ext uri="{BB962C8B-B14F-4D97-AF65-F5344CB8AC3E}">
        <p14:creationId xmlns:p14="http://schemas.microsoft.com/office/powerpoint/2010/main" val="14368036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D7FF88-528B-41C1-9D86-A242CCEE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2EFC7A-129F-42FB-935D-C0B9E9E5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实验设计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F9CB9F-8B84-41A9-A374-ED74995B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1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EF6BB-1D5F-4EEC-8A0F-77627AF5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103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1BBF0-AABE-4D48-93A3-22F8EA30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28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2878B5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D873A1-F272-4851-86B7-3C0DC8A8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rPr>
              <a:t>每个基础样本的用户数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1A1DD-E743-4255-9F40-C1BCBA5E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5240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rPr>
              <a:t>5 × 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9DD1E-6F10-4CD9-AD81-543C38C1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527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rPr>
              <a:t>基础样本 × 容量余量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9599AA-C070-4C0E-978C-BF0C7658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24000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E9A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E9A23B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BDCAC-DE19-462E-9778-1E0EE2A3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5527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rPr>
              <a:t>最终求解场景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889BE-AD4F-4DD4-85A5-B4042F7E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1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DD098-B41D-45C8-B095-1C170123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rPr>
              <a:t>同一基础样本内，用户、KQI、历史与初始带宽保持不变，只改变容量余量。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5B06EA-B742-405C-9079-960EC1DA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rPr>
              <a:t>余量档位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9D6D23-0C7E-4BA5-894F-163B45E7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05300"/>
            <a:ext cx="1104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0070C7-40D0-4E8E-A1BB-FE939D5E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05300"/>
            <a:ext cx="110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3FD9FC-A4F2-418A-AF30-4A8F8764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305300"/>
            <a:ext cx="1104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3AB536-D320-4C0A-8D66-5B6B86D7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305300"/>
            <a:ext cx="110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7DA8C3-3D3B-486E-A60B-77777A0E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305300"/>
            <a:ext cx="1104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B3DF23-1E05-4680-BF37-59C48C79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305300"/>
            <a:ext cx="110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10%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1B3A21-EC2B-445D-83BB-CC9532D8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05300"/>
            <a:ext cx="1104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FDC05-BA95-4EE5-87D4-0F305876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05300"/>
            <a:ext cx="110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15%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65188A-AB1B-4BAC-B06E-669D4B1A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05300"/>
            <a:ext cx="1104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A11C8C-6A73-44AA-95B1-58AF3983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05300"/>
            <a:ext cx="110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20%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CCAB1E-D3B0-4816-9730-4C2C8E6F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容量 = 初始方向占用 ×（1 + 余量）</a:t>
            </a:r>
          </a:p>
        </p:txBody>
      </p:sp>
    </p:spTree>
    <p:extLst>
      <p:ext uri="{BB962C8B-B14F-4D97-AF65-F5344CB8AC3E}">
        <p14:creationId xmlns:p14="http://schemas.microsoft.com/office/powerpoint/2010/main" val="8864492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C62EB5-6BF7-4D25-B787-D616656D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F68931-3B12-4CD8-8F66-372848DF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百人业务构成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DBACA-7414-43AB-B38A-AA98BFDC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1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A4FC7-EEE3-4CEB-971E-DA4B3B3C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103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66750" y="1352550"/>
          <a:ext xmlns:a="http://schemas.openxmlformats.org/drawingml/2006/main" cx="72390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baec925d42473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E54349-40E2-49B8-AB57-A401C4F7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097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95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D95D5D"/>
                </a:solidFill>
                <a:latin typeface="Microsoft YaHei"/>
                <a:ea typeface="Microsoft YaHei"/>
                <a:cs typeface="Microsoft YaHei"/>
              </a:rPr>
              <a:t>开直播：2 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0A68F3-5A9D-4D90-AE20-BCCD5AD3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7650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rPr>
              <a:t>原始计数仅 20 条，直接按比例整数化会得到 0 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37094D-253C-45F6-ACAD-5214A8DD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05200"/>
            <a:ext cx="2762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rPr>
              <a:t>本批先保留 2 个覆盖席位，其余 98 人继续按原始 QoE 分布分配。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DBBFA-2AD6-4DAB-8E84-73E046F8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9530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rPr>
              <a:t>这是实验覆盖约束，不代表现网开直播占比为 2%。</a:t>
            </a:r>
          </a:p>
        </p:txBody>
      </p:sp>
    </p:spTree>
    <p:extLst>
      <p:ext uri="{BB962C8B-B14F-4D97-AF65-F5344CB8AC3E}">
        <p14:creationId xmlns:p14="http://schemas.microsoft.com/office/powerpoint/2010/main" val="7887108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11E74F-AB90-443C-8D14-50AF641C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D523E-981D-49F4-95AB-EBBCE18E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套餐等级成为最高权重维度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ECA69-7DD2-47DE-9563-83D3F494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1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97056-3A34-4933-82FB-66265055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103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287D3-9646-43B5-BCD4-E8BF6397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716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套餐  &gt;  业务  &gt;  位置  &gt;  容忍度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A96A59-7008-4CAD-8B81-0FD74458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rPr>
              <a:t>w = { [ ( r套餐 × 5 + r业务 ) × 3 + r位置 ] × 3 + r容忍度 + 1 } ÷ 64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627AE-C612-4DAE-BBD6-33C7CA5F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7334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376403-4F90-4FAF-AAAC-082F730E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超级 VIP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E16B5-04CD-4560-AA8D-10806B68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2385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序号 91–135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855563-DA79-4B65-BFE6-F01159A3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385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权重 1.421875–2.109375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9C83BC-48BC-46B6-8C07-334D8C58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7334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A507BF-D8FB-4FCA-98C8-8E01F49A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902C30-4711-467D-A96D-19237D92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09575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序号 46–90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0423F5-7805-4A47-BB5F-92098A8B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957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权重 0.718750–1.406250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98B352-FDCC-4EA8-B5A2-F60F7B9D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7334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CC3694-75C5-4E50-A9E0-90CC67FB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530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普通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0DE870-B1AB-46DE-B899-BF8D65F3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9530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序号 1–45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7A5A05-4186-40EE-AA7C-E28605DD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5300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权重 0.015625–0.703125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EE9EDC-8B88-4B03-B60E-D472FA17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718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9A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9A23B"/>
                </a:solidFill>
                <a:latin typeface="Microsoft YaHei"/>
                <a:ea typeface="Microsoft YaHei"/>
                <a:cs typeface="Microsoft YaHei"/>
              </a:rPr>
              <a:t>三个区间不重叠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8084CB-5358-4C1B-842A-8013A70D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43350"/>
            <a:ext cx="2333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rPr>
              <a:t>任意超级 VIP 的基础权重高于任意 VIP，任意 VIP 高于任意普通用户。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EDF28E-B74D-4088-A4A9-8EA81134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39115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rPr>
              <a:t>这是总效用中的软优先。</a:t>
            </a:r>
          </a:p>
        </p:txBody>
      </p:sp>
    </p:spTree>
    <p:extLst>
      <p:ext uri="{BB962C8B-B14F-4D97-AF65-F5344CB8AC3E}">
        <p14:creationId xmlns:p14="http://schemas.microsoft.com/office/powerpoint/2010/main" val="13261915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01F928-A767-4BA4-AB47-85BE7C30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728BD-EB0D-4513-8DCA-9C772ABF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系统架构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07756-5B43-4381-A037-1C89E0CF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1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26B5F-0D5C-4F35-8AA1-EC44129B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103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63426-57B6-4BED-92C6-DC11850A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8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878B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4E1AB-928D-41C6-AE5E-FD243447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0495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配置与校验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3B290D-1757-4024-8BBD-BC45443E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002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rPr>
              <a:t>字段、概率、预算、模型指纹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2E55B-1FDD-4468-BA47-D20947A9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33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1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AEFC3-4FCF-4205-93A1-91FF08C8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04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8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878B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3E0692-0FAF-4D23-BA7A-9C918E5A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50495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百人状态生成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67A260-388C-4855-B33F-A5C76324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002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rPr>
              <a:t>业务、套餐、KQI、历史 MOS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A22A39-C6DE-4EF8-B7FB-71300D93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335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1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4D3452-8A17-49A4-89A9-C246EAFC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04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8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878B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BC11EF-C943-4CC0-BA5C-311F1E6F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0495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容量场景派生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C2F332-0FE2-4CD7-8B31-1865A453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002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rPr>
              <a:t>同组用户对应五档余量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161E73-0D28-4F8B-A015-A05E3B9E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8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878B5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58D4B3-EC07-45AE-97B3-249AD8AC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0045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候选动作构造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F9FC20-8535-4B20-B165-D5F7CBAE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957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rPr>
              <a:t>码率反推与正向复算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EF55E4-71FC-4BED-878C-C4868EEC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290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1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50D653-6F07-480A-B146-0EB7A243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004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8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878B5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793457-6C67-410D-B7A5-91797026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0045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博弈协调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E77492-9DE3-4627-9F90-DBF4F7A7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957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rPr>
              <a:t>价格、回收、升级、交换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A13EBA-06D9-4FB3-ACDA-14257B95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290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1E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6A6F0B-4D09-4BBE-AFD1-818DFC43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004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8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878B5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D502A9-458F-4030-A3D1-F714E244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00450"/>
            <a:ext cx="262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评价与报告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FB2DBC-D9F6-47F5-B8A9-3484B73D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957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rPr>
              <a:t>合法性、参考搜索、HTML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07714F-5791-44C8-A242-922C9B60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670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1E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202FF0-D3CD-4BDC-B7F4-DDEE28FC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19450"/>
            <a:ext cx="906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1E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1DF10F-84C6-4A34-B14E-2B54D03B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rPr>
              <a:t>每一步都有可序列化证据，报告只读取已保存结果，不重新运行求解。</a:t>
            </a:r>
          </a:p>
        </p:txBody>
      </p:sp>
    </p:spTree>
    <p:extLst>
      <p:ext uri="{BB962C8B-B14F-4D97-AF65-F5344CB8AC3E}">
        <p14:creationId xmlns:p14="http://schemas.microsoft.com/office/powerpoint/2010/main" val="3024816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41C974A-62BC-4CFA-8BFF-7C1941C0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8BCCD-35BB-4D65-A835-5D3D03E5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场景构造与可比性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BB372-6C5A-43FF-B09A-78FAF531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1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0515B-A8D3-4D2F-A292-BA018A0B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103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912E6-99B0-4240-B408-A3A59923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5 个独立基础样本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587FC-4E25-4758-A626-06AB9B0D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143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89E3B-D5B7-4D03-95BE-C8EB8F50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样本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C6074-D6EE-46CA-8237-487CB6FC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286000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1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A4658C-A6D1-4F54-B2C8-A7CA57B6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57400"/>
            <a:ext cx="95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9FE10-4526-4676-B4BD-1FC68281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574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9FACB3-C658-406F-93AB-0E304760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57400"/>
            <a:ext cx="95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3B7386-9077-46B1-A317-D673A4AB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574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F4D079-96DB-414E-99BE-C9126BB9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57400"/>
            <a:ext cx="95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A26CA2-5C3B-430E-B018-B1CFDA8B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574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10%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22E86B-4CD0-4582-89C1-7B0BF314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57400"/>
            <a:ext cx="95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BB55BC-4F44-4CB9-BFBF-24CE53B3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574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15%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111388-56AD-4CD7-BFA1-5FF0B18C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57400"/>
            <a:ext cx="95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B8D480-09CE-4583-82EB-E191B8B6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574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20%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892C82-22E9-4D15-9416-0DEA958F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143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29DCD7-E580-4ABF-BE5F-F628A2C2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样本 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78A8FB-5622-4021-AD3A-570AFDAA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009900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1E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754E4B-589E-471E-B0DA-F80ABF15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81300"/>
            <a:ext cx="95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16DB01-2A67-4439-9066-2D7E66DC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813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0C093F-F25E-4B82-B30A-A631BC4A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81300"/>
            <a:ext cx="95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E207C6-A792-419B-B3B6-5AF8D163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813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1F619F-4FC4-4B08-AE3D-12DD678F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81300"/>
            <a:ext cx="95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676B0D-9488-431F-A471-AC805480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813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10%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877FDA-A3FB-4206-9AAC-BF6937C4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81300"/>
            <a:ext cx="95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DADDF6-C98A-4CFC-860D-008FDC2A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813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15%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A877DC-D2F9-4836-B865-56939A76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81300"/>
            <a:ext cx="95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1F8B2F-4A75-4FD6-9AE9-DBE9CC02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813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20%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8D36AF-2488-4295-9B0D-688BD665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1143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A2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501FD4-1567-4C18-B923-58715C12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样本 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8D1E2F-3B37-44D0-B791-9F1CDD66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733800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1E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3982B7-9353-4C99-BB03-F21097A1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505200"/>
            <a:ext cx="95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FAC0CB-B96C-4C25-AA1E-0ABECDAC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5052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434D64-10F9-418B-8434-FD504D9F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05200"/>
            <a:ext cx="95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9184C9-E5DD-4FB8-A8D9-76017EA9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052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5%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A9904F-6750-450F-AF9A-304ACB54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505200"/>
            <a:ext cx="95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7D7F68-720D-4018-83B5-D243D813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5052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10%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D34941-BBE2-4B4F-B2E1-FFEE6F02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05200"/>
            <a:ext cx="95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BF927E-2CF2-4153-B5A7-2C250F17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052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15%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7DEB53-4853-4F90-A1E1-F6CC58CB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05200"/>
            <a:ext cx="95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C27850-22CE-4D31-AA41-51EBC5EA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052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20%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D786608-57AC-4733-80A1-90664BEF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1143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7B6FC2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BD0BD73-1813-4C22-B2D1-80D8AC6D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样本 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BD3D5E6-E1E5-4084-9676-0E70BBC2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57700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1E8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700D45D-2909-4003-AAB8-CE46F3D1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229100"/>
            <a:ext cx="95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A87362-EB2B-4FB2-8AB7-C2BF63D9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2291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546BC35-37F2-4224-A27C-E5CDD9C3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29100"/>
            <a:ext cx="95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90FF59C-81EB-416F-91DC-A0DBBBF0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291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5%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F24AEC4-CC4A-4938-A8F6-2764719F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229100"/>
            <a:ext cx="95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B59F370-AEAA-4110-9319-7B6AA7F4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2291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10%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1035D79-5ACF-4F2E-86EA-9CEDDF38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229100"/>
            <a:ext cx="95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88E95E5-2E7F-41C9-9063-D0F0BD52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2291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15%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1555FA0-733E-4AE0-9DB1-CAA8A14F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29100"/>
            <a:ext cx="95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0B431C8-7EE1-4569-86B1-47B87924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291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20%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98D099B-3D22-49CC-9EFB-825F4ED7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143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5D5D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182BB89-8544-4899-ACC4-79736168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样本 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B90E997-143C-4A18-8FF6-082B2069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81600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1E8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471F20A-8E86-4390-B48C-271783B1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953000"/>
            <a:ext cx="95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E974796-AFCB-4A14-BAC1-D6534F2B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9530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A9DCE10-9CB3-41D5-AACD-FA32C072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953000"/>
            <a:ext cx="95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CEC3AEC-F18B-4026-9D05-F2FEEEF7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9530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5%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48275A5-73E9-4211-B25F-B230E0C6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953000"/>
            <a:ext cx="95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B368002-6804-4D3C-BC1B-156D79D2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9530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10%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C61404A-902C-4C82-90D8-3C249C48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953000"/>
            <a:ext cx="95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68F66E5-0614-4A31-B7F7-27A3F33E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9530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15%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956A0AF-9249-4056-8923-F576DEAA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953000"/>
            <a:ext cx="95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F5B0990-59F0-4DC8-88E9-45DC03EE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95300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20%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B82DFD8-EB44-4FF5-94FF-15FCD517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57450"/>
            <a:ext cx="142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8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878B5"/>
                </a:solidFill>
                <a:latin typeface="Microsoft YaHei"/>
                <a:ea typeface="Microsoft YaHei"/>
                <a:cs typeface="Microsoft YaHei"/>
              </a:rPr>
              <a:t>同一行只改变容量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E17D7D4-4D20-493E-AD09-901A3D8B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71850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rPr>
              <a:t>不改变用户、KQI、历史和初始带宽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B7D9985-0117-4630-AF15-09208D89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436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rPr>
              <a:t>25 个场景均完成生成与校验</a:t>
            </a:r>
          </a:p>
        </p:txBody>
      </p:sp>
    </p:spTree>
    <p:extLst>
      <p:ext uri="{BB962C8B-B14F-4D97-AF65-F5344CB8AC3E}">
        <p14:creationId xmlns:p14="http://schemas.microsoft.com/office/powerpoint/2010/main" val="9709014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9CCBDB-F687-48C4-BD09-A556EF90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A5FCC3-BC3C-4CE7-9EB3-6FA8B10A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求解机制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23DCC7-FBAB-4EFC-9EEC-4752B681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1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83503B-9096-4F9E-8558-23543027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103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54B47-666E-48AF-9C09-B8C90255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885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402D0-14E8-45B7-A934-07CF8D7D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个人请求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A547A-11FD-4891-B9D9-9701722A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19075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32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CE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CE7F1"/>
                </a:solidFill>
                <a:latin typeface="Microsoft YaHei"/>
                <a:ea typeface="Microsoft YaHei"/>
                <a:cs typeface="Microsoft YaHei"/>
              </a:rPr>
              <a:t>最大化 H − 影子成本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A82C5D-C861-4D56-8B61-BC9D3AB7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0980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78B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6C99E9-8BAE-4B80-8A9D-B82B017B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676400"/>
            <a:ext cx="1885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3F16A-B13A-47D1-AF0C-78C14F04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9070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资源协调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7586FB-BDAA-4F8D-A023-42DC17E9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19075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rPr>
              <a:t>修复上下行超载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AB694-8401-44EE-9725-D86C52F1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0980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78B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C1EDF0-2EA1-462A-8B05-A1D2AEA4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676400"/>
            <a:ext cx="1885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F214F3-C1D3-437F-A59F-5EF1F8E5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79070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合法升级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6181EB-82C6-4861-9BF2-04D9E420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19075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rPr>
              <a:t>接受正效用增量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C02DC4-83EA-4E9E-832E-2787EDCB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0980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78B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AE3E5B-86EF-4086-B9E4-B7C2751A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76400"/>
            <a:ext cx="1885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3F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5E9F8C-7624-45FA-B51F-94D8DB3C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9070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有限交换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2539AE-8F93-466B-BF7F-52EF9BD0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190750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rPr>
              <a:t>一或两个供体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8D8F3B-42DA-4375-A5E7-8C0C0D96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004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8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878B5"/>
                </a:solidFill>
                <a:latin typeface="Microsoft YaHei"/>
                <a:ea typeface="Microsoft YaHei"/>
                <a:cs typeface="Microsoft YaHei"/>
              </a:rPr>
              <a:t>价格与动作更新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42CB8D-7B28-4849-A1B0-7285240B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971800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1E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93A4BE-C9D0-48FD-AF15-11292D25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695700"/>
            <a:ext cx="777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1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D3F4F6-4B13-4442-8034-BEAB2F8E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71800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1E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08FC7B-BE46-458D-B605-C9E66EF9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71950"/>
            <a:ext cx="685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返回历史上 H 最高的合法方案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50AE31-A49C-4E75-A119-47D2969F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53000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rPr>
              <a:t>停止条件同时检查价格、动作、资源占用、H、保障状态和已检查邻域。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E397C2-542B-4694-9DA8-56529017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95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95D5D"/>
                </a:solidFill>
                <a:latin typeface="Microsoft YaHei"/>
                <a:ea typeface="Microsoft YaHei"/>
                <a:cs typeface="Microsoft YaHei"/>
              </a:rPr>
              <a:t>CONVERGED_LOCAL 表示有限候选与邻域内收敛，不代表全局最优。</a:t>
            </a:r>
          </a:p>
        </p:txBody>
      </p:sp>
    </p:spTree>
    <p:extLst>
      <p:ext uri="{BB962C8B-B14F-4D97-AF65-F5344CB8AC3E}">
        <p14:creationId xmlns:p14="http://schemas.microsoft.com/office/powerpoint/2010/main" val="10145395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C4835D-BCB7-4B37-A690-51D520C8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39C06-9EFB-465F-8D38-06B51AB4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带宽余量提高平均 MOS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AA8D0-90E9-4B34-A419-3C83B0A6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1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9B1984-7D3B-4DED-A2EB-0BE0011C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103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6750" y="1409700"/>
          <a:ext xmlns:a="http://schemas.openxmlformats.org/drawingml/2006/main" cx="7810500" cy="4267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3a221c31014c0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138F6-CB1D-4649-9F9D-D320FEE5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097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8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878B5"/>
                </a:solidFill>
                <a:latin typeface="Microsoft YaHei"/>
                <a:ea typeface="Microsoft YaHei"/>
                <a:cs typeface="Microsoft YaHei"/>
              </a:rPr>
              <a:t>+0.179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4026A7-6F2C-4750-8064-D89AEA92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0030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rPr>
              <a:t>0% 余量下的平均 MOS 增益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9B5A7E-B0FE-44CC-8CD8-98677C57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147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rPr>
              <a:t>+0.211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28A54-AD7A-46A2-8A40-2B468E34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rPr>
              <a:t>20% 余量下的平均 MOS 增益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65BF2F-332E-4A5C-B21C-C99733CA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3340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rPr>
              <a:t>五个基础样本的均值</a:t>
            </a:r>
          </a:p>
        </p:txBody>
      </p:sp>
    </p:spTree>
    <p:extLst>
      <p:ext uri="{BB962C8B-B14F-4D97-AF65-F5344CB8AC3E}">
        <p14:creationId xmlns:p14="http://schemas.microsoft.com/office/powerpoint/2010/main" val="16178114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BBEE8C-318D-48EE-A945-99F5C423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419A9-40DB-4DFA-A19D-9ECAF982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平均达标人数从 25.8 提升至 39.0–40.6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AC09B-2356-4077-B011-CFA113A6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1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9F31C-C2B6-43AC-A6EE-D20C708A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103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66750" y="1466850"/>
          <a:ext xmlns:a="http://schemas.openxmlformats.org/drawingml/2006/main" cx="8096250" cy="4210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8a8f45ba4ab42b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6C92A-7E4C-49E5-93A9-FC24E6C1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3835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rPr>
              <a:t>+13.2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3E1F0-6CBA-4BC3-B906-FF537F77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209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rPr>
              <a:t>0% 余量下新增的平均达标人数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12A7AF-F990-465D-9C4D-2DBE5E9F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8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878B5"/>
                </a:solidFill>
                <a:latin typeface="Microsoft YaHei"/>
                <a:ea typeface="Microsoft YaHei"/>
                <a:cs typeface="Microsoft YaHei"/>
              </a:rPr>
              <a:t>+14.8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86274-0A9E-4489-BBF0-6FF01141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629150"/>
            <a:ext cx="209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rPr>
              <a:t>20% 余量下新增的平均达标人数</a:t>
            </a:r>
          </a:p>
        </p:txBody>
      </p:sp>
    </p:spTree>
    <p:extLst>
      <p:ext uri="{BB962C8B-B14F-4D97-AF65-F5344CB8AC3E}">
        <p14:creationId xmlns:p14="http://schemas.microsoft.com/office/powerpoint/2010/main" val="5216408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98F7E2-1F75-4523-80BF-2E959C32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86117-74F3-4FD5-95A4-42F5EE28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分套餐体验结果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359C0-6B5D-4D33-ACAB-1DAB3DBF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1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CD75B-B2B3-4034-95ED-41347E02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103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66750" y="1447800"/>
          <a:ext xmlns:a="http://schemas.openxmlformats.org/drawingml/2006/main" cx="7239000" cy="4324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0fcda55516e4da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2C8C0-B053-4109-9FE6-3601A249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335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7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套餐权重决定收益价值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CC774-C48A-427C-9F8B-936694F6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57450"/>
            <a:ext cx="266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rPr>
              <a:t>最终增量还取决于初始 MOS、目标是否可达、单位带宽收益和历史欠账。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E601FE-3DBD-4F06-9A72-AAC211C4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4335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5D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95D5D"/>
                </a:solidFill>
                <a:latin typeface="Microsoft YaHei"/>
                <a:ea typeface="Microsoft YaHei"/>
                <a:cs typeface="Microsoft YaHei"/>
              </a:rPr>
              <a:t>高级套餐并不必然获得最大的 MOS 增量。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50DFE-96C2-421F-B509-D25B5447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72050"/>
            <a:ext cx="266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rPr>
              <a:t>当前实现保证权重顺序，不保证硬性先达标。</a:t>
            </a:r>
          </a:p>
        </p:txBody>
      </p:sp>
    </p:spTree>
    <p:extLst>
      <p:ext uri="{BB962C8B-B14F-4D97-AF65-F5344CB8AC3E}">
        <p14:creationId xmlns:p14="http://schemas.microsoft.com/office/powerpoint/2010/main" val="3004779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0477A4-240E-40C7-811D-D0EDDD9B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04E74-EA26-4EA7-A766-A548A3FD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结果可信范围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964AC-8FA5-4DFD-956B-4D0B5829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1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43898-DBB7-4EB4-B477-ED962C51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103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D8BE3-A13B-4C3A-B38E-9AC3EFFE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A9D8F"/>
                </a:solidFill>
                <a:latin typeface="Microsoft YaHei"/>
                <a:ea typeface="Microsoft YaHei"/>
                <a:cs typeface="Microsoft YaHei"/>
              </a:rPr>
              <a:t>25 / 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B3213-62E8-4557-85A7-81980972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rPr>
              <a:t>场景返回合法方案并局部收敛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492F7-C9E8-4BC4-B7E7-24ECE077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8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878B5"/>
                </a:solidFill>
                <a:latin typeface="Microsoft YaHei"/>
                <a:ea typeface="Microsoft YaHei"/>
                <a:cs typeface="Microsoft YaHei"/>
              </a:rPr>
              <a:t>51 / 51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E4AB8-A85F-421F-A652-A8E26099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rPr>
              <a:t>自动测试通过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A530FC-DB0F-4FEC-BD85-40C210D8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9A2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9A23B"/>
                </a:solidFill>
                <a:latin typeface="Microsoft YaHei"/>
                <a:ea typeface="Microsoft YaHei"/>
                <a:cs typeface="Microsoft YaHei"/>
              </a:rPr>
              <a:t>1.95 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25AE2-FDDC-4E4D-9659-2E72E83A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rPr>
              <a:t>单场最长求解时间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72F9C7-F664-44CC-9300-B899A8CC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66850"/>
            <a:ext cx="0" cy="457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1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84834-B70A-4A6B-B780-58F8021C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287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汇报边界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7FAB4A-DD27-49A4-AC7D-1787D895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526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rPr>
              <a:t>01  匹配模型仿真，尚未经过现网 A/B 验证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83AAB6-86EB-408C-B051-D29BAA0F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718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rPr>
              <a:t>02  套餐优先是实验政策，仍需业务侧标定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EA6274-60AC-400F-AB0C-884B60F3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9095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rPr>
              <a:t>03  局部收敛与 best known 参考不构成全局最优证明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0D0400-49E2-4CD2-AA03-7ACE828E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6250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2332"/>
                </a:solidFill>
                <a:latin typeface="Microsoft YaHei"/>
                <a:ea typeface="Microsoft YaHei"/>
                <a:cs typeface="Microsoft YaHei"/>
              </a:rPr>
              <a:t>04  当前只调整媒体码率，外部 KQI 和分辨率保持固定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E455E5-C698-4FE0-A475-55F5A344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7531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78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878B5"/>
                </a:solidFill>
                <a:latin typeface="Microsoft YaHei"/>
                <a:ea typeface="Microsoft YaHei"/>
                <a:cs typeface="Microsoft YaHei"/>
              </a:rPr>
              <a:t>完整逐轮证据、输入和交互报告已随汇报包交付。</a:t>
            </a:r>
          </a:p>
        </p:txBody>
      </p:sp>
    </p:spTree>
    <p:extLst>
      <p:ext uri="{BB962C8B-B14F-4D97-AF65-F5344CB8AC3E}">
        <p14:creationId xmlns:p14="http://schemas.microsoft.com/office/powerpoint/2010/main" val="19131919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2026-09-19T12:40:14.0850000Z</dcterms:created>
  <dcterms:modified xsi:type="dcterms:W3CDTF">2026-09-19T12:40:14.0850000Z</dcterms:modified>
</coreProperties>
</file>